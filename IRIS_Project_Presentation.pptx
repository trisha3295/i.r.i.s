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mid-term project review for Project I.R.I.S. Today we will present the literature analysis across 1000+ papers, the architecture designed to overcome systemic HCI bottlenecks, and demonstrate the working 60%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I.R.I.S. is motivated by the desire to provide completely accessible, frictionless cursor and gesture control using commodity webcams without expensive specialized eye-tracking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analyzed over 1000 research papers and major open-source repositories to isolate why existing gaze tracking tools fail in real-world everyday use. These 4 bottlenecks formed the foundation of our redesign.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proposed I.R.I.S. system replaces naive computer vision approaches with an optimized, mathematically grounded hybrid pipeline that achieves sub-3ms latency and jitter-free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diagram illustrates our modular 6-stage pipeline. Every stage is strictly decoupled, enabling high throughput and seamless multi-threading.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stack avoids heavy framework overhead like PyAutoGUI. By compiling FaceMesh into ONNX and using native ctypes for Win32 API calls, we achieve extreme performance on standard laptop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60% completion, all core engineering challenges, mathematical models, neural inference pipelines, and gesture state machines are fully implemented and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experimental benchmarks show sub-5ms total pipeline latency, ensuring that cursor movements feel as responsive and immediate as a physical optical mouse.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outlines the critical engineering hurdles encountered during development and the innovative algorithmic solutions we developed to overcome each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remaining 40% of the project focuses on enterprise polish: multi-monitor awareness, hybrid pupil micro-tracking, standalone .exe packaging, and accessibility user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 and attention. We now invite your questions, feedback, and are ready to demonstrate the live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5912" cy="4114800"/>
          </a:xfrm>
          <a:prstGeom prst="roundRect">
            <a:avLst/>
          </a:prstGeom>
          <a:solidFill>
            <a:srgbClr val="101626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457200"/>
          <a:lstStyle/>
          <a:p>
            <a:pPr algn="ctr">
              <a:spcAft>
                <a:spcPts val="1000"/>
              </a:spcAft>
              <a:defRPr sz="3600" b="1">
                <a:solidFill>
                  <a:srgbClr val="00E5FF"/>
                </a:solidFill>
              </a:defRPr>
            </a:pPr>
            <a:r>
              <a:t>PROJECT I.R.I.S.</a:t>
            </a:r>
          </a:p>
          <a:p>
            <a:pPr>
              <a:spcAft>
                <a:spcPts val="2400"/>
              </a:spcAft>
              <a:defRPr sz="2000" b="1">
                <a:solidFill>
                  <a:srgbClr val="F8FAFC"/>
                </a:solidFill>
              </a:defRPr>
            </a:pPr>
            <a:r>
              <a:t>Intelligent Real-Time Neural Human-Computer Interaction (HCI) Suite</a:t>
            </a:r>
          </a:p>
          <a:p>
            <a:pPr>
              <a:spcAft>
                <a:spcPts val="3000"/>
              </a:spcAft>
              <a:defRPr sz="1300">
                <a:solidFill>
                  <a:srgbClr val="80F0FF"/>
                </a:solidFill>
              </a:defRPr>
            </a:pPr>
            <a:r>
              <a:t>• Zero-Jitter Cursor Control  |  • Anti-Gimbal 6-DOF Pose  |  • Relative Asymmetry Wink Recognition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Comprehensive Technical Review, Architecture Blueprint &amp; 60% Progress Milestones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SECTION 01 / CONTEXT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1. Project Overview &amp;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FAB00"/>
                </a:solidFill>
              </a:defRPr>
            </a:pPr>
            <a:r>
              <a:t>🎯 Problem Statement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Traditional webcam gaze trackers suffer from high latency (150-300ms) on consumer hardware.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Landmark coordinates oscillate by 3-6px due to 50Hz/60Hz AC ambient lighting flicker.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Euler angle approximations cause Gimbal Lock &amp; coordinate teleportation.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Natural blinks cause unwanted clicks ('Midas Touch').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💡 Project Objectives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Design an ultra-fast (&lt;3ms inference) CPU-friendly vision pipeline.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Eliminate static pointer jitter without introducing lag during rapid head movements.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Implement 6-DOF PnP head raycasting to prevent coordinate singularity flips.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Deliver a production-ready, hands-free Windows OS accessibility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E676"/>
                </a:solidFill>
              </a:defRPr>
            </a:pPr>
            <a:r>
              <a:t>🌟 Core Value &amp; Impact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Empowers motor-impaired individuals with frictionless hands-free computing.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Enables hands-busy professional use (surgeons, industrial technicians, CAD designers).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 specialized hardware needed: works on any standard 720p/1080p webcam.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Sub-millisecond native Windows kernel cursor injection.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SECTION 02 / ANALYSIS OF 1,000+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2. Existing System / Literature Survey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FAB00"/>
                </a:solidFill>
              </a:defRPr>
            </a:pPr>
            <a:r>
              <a:t>1. The 50Hz/60Hz Flicker Trap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Raw RGB frames straight from OpenCV suffer from mains-frequency exposure fluctuations.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Causes perpetual background landmark jitter of 3-6 pixels even when the user is stationary.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FAB00"/>
                </a:solidFill>
              </a:defRPr>
            </a:pPr>
            <a:r>
              <a:t>2. Gimbal Lock &amp; Depth Degradation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Academic papers frequently use 2D bounding boxes or RQDecomp3x3 Euler decomposition.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Looking downwards causes coordinate wrapping from +180° to -180°, teleporting the cursor.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FAB00"/>
                </a:solidFill>
              </a:defRPr>
            </a:pPr>
            <a:r>
              <a:t>3. The 'Midas Touch' Problem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Static Eye Aspect Ratio (EAR) triggers clicks on natural involuntary blinks (~20x/min).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Winking one eye naturally pulls down the other eyelid, breaking naive threshold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FAB00"/>
                </a:solidFill>
              </a:defRPr>
            </a:pPr>
            <a:r>
              <a:t>4. Latency vs. Accuracy Trade-off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Appearance-based CNN gaze models introduce 150-300ms inference lag on standard CPUs.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Synchronous OpenCV cap.read() blocks the execution pipeline, halving processing framerates.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SECTION 03 / SYSTEM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3. Proposed System: I.R.I.S. Advanced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⚡ Neural Optimization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OpenCV YuNet + MediaPipe FaceMesh ONNX Runtime.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Cuts inference time to ~2.05ms (486 FPS on consumer CPU).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Extracts 468 dense 3D facial landmarks with sub-pixel precision.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Daemon-threaded capture buffer eliminates I/O hardware blocking.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E676"/>
                </a:solidFill>
              </a:defRPr>
            </a:pPr>
            <a:r>
              <a:t>📐 Geometric &amp; Signal Math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Perspective-n-Point (cv2.solvePnP) with Levenberg-Marquardt optimization.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Continuous 6-DOF gaze raycasting (1000mm forward normal).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Adaptive One Euro Filter dynamically adjusts cutoff based on velocity.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 static jitter at rest; zero lag during active saccades.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🧠 Gesture State Machine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Relative Asymmetry Index: |L - R| / max(L, R) &gt; 28% for effortless winks.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Stateful Temporal Hold (350ms for click, 750ms for drag &amp; drop).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Mouth Aspect Ratio (MAR) + Head-tilt Smooth Scroll Mode.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Sub-millisecond native Win32 user32.dll cursor dispatch.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SECTION 04 / ARCHITECTURE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4. System Architecture &amp;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1. INGESTION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Threaded DirectShow Video Buffer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Atomic Double Buffering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640x480 @ 30 FPS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676"/>
                </a:solidFill>
              </a:defRPr>
            </a:pPr>
            <a:r>
              <a:t>2. PREPROCESS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YCrCb Color Conversion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Y-Channel CLAHE (Clip=2.0)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50/60Hz Flicker Immunity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3. NEURAL TRACK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YuNet Fast Face ROI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FaceMesh ONNX (468 pts)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~2.05ms Inference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676"/>
                </a:solidFill>
              </a:defRPr>
            </a:pPr>
            <a:r>
              <a:t>4. 6-DOF POSE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Anthropometric Canonical 3D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Levenberg-Marquardt PnP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1000mm Forward Gaze Ray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5. FILTERING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Adaptive 1-Euro Filter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fc = fc_min + beta * |dx/dt|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Stationary Jitter Damping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676"/>
                </a:solidFill>
              </a:defRPr>
            </a:pPr>
            <a:r>
              <a:t>6. GESTURE &amp; OS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Asymmetry Wink Engine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Temporal Hold Click / Drag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Win32 ctypes user32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SECTION 05 / TECH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5. Technology Stack &amp;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🐍 Core Language &amp; Runtime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Python 3.12 / 3.14 (64-bit)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NumPy 2.5 (High-Speed Matrix Math &amp; Euclidean Vector Operations)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DirectShow Windows Camera Interface (`cv2.CAP_DSHOW` backend)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 external cloud dependencies (100% Offline Edge Processing)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E676"/>
                </a:solidFill>
              </a:defRPr>
            </a:pPr>
            <a:r>
              <a:t>👁️ Vision &amp; Neural Engines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OpenCV 5.0 (YuNet C++ Deep Neural Face Detector)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ONNX Runtime 1.29 (Native CPU Graph Optimization &amp; Multi-Threading)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Google MediaPipe 3D 468-point Dense FaceMesh ONNX Topology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YCrCb Contrast Limited Adaptive Histogram Equalization (CLAHE)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🖥️ System Control &amp; UI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Windows Win32 `user32.dll` ctypes Direct Cursor Injection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OpenCV HighGUI Cyber-Glassmorphic Dashboard Canvas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Windows Native `winsound` Asynchronous Acoustic Chimes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Standard USB / Built-in Webcam (640x480 @ 30 FPS)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SECTION 06 / MID-TERM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6. Project Development – 60% Progress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E676"/>
                </a:solidFill>
              </a:defRPr>
            </a:pPr>
            <a:r>
              <a:t>✅ Completed Milestones (60%)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Full Threaded Frame Grabber (`camera.py`)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YCrCb CLAHE Lighting Equalizer (`preprocessor.py`)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YuNet + FaceMesh ONNX Pipeline (`tracker.py`)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6-DOF solvePnP Gaze Raycaster (`pose_estimator.py`)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Adaptive One Euro Filter (`filters.py`)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Asymmetry Wink &amp; Hold Engine (`gesture_engine.py`)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Win32 Cursor &amp; Sound Controller (`controller.py`)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📊 Current System Status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Architecture: Modular, decoupled package (`iris_engine`)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Unit Testing: 6/6 automated integration tests passing in 0.12s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UI Interface: Side-by-side Camera + Live Telemetry Dashboard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Deployment: 1-click batch launcher (`run_iris.bat`) with venv autodetection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Repository: Fully merged and operational in `C:\I.R.I.S`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E676"/>
                </a:solidFill>
              </a:defRPr>
            </a:pPr>
            <a:r>
              <a:t>⏱️ Verified Working Features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Smooth Cursor Navigation across full 1080p/4K display bounds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Left Wink -&gt; Instant Left Click (0.18s)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Right Wink -&gt; Instant Right Click (0.18s)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Dual Blink (0.35s) -&gt; Click | (0.75s) -&gt; Drag &amp; Drop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Head-Tilt / Mouth Open -&gt; Smooth Scrolling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Auto-Calibration Routine &amp; Sniper Mode (0.35x)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SECTION 07 / EMPIRICAL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7. Working Demo &amp; Experimental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/>
          <a:lstStyle/>
          <a:p>
            <a:pPr algn="ctr">
              <a:spcAft>
                <a:spcPts val="400"/>
              </a:spcAft>
              <a:defRPr sz="2800" b="1">
                <a:solidFill>
                  <a:srgbClr val="00E5FF"/>
                </a:solidFill>
              </a:defRPr>
            </a:pPr>
            <a:r>
              <a:t>2.05 ms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</a:defRPr>
            </a:pPr>
            <a:r>
              <a:t>FaceMesh ONNX Inference Latency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486 FPS theoretical max on consumer CPU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201168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/>
          <a:lstStyle/>
          <a:p>
            <a:pPr algn="ctr">
              <a:spcAft>
                <a:spcPts val="400"/>
              </a:spcAft>
              <a:defRPr sz="2800" b="1">
                <a:solidFill>
                  <a:srgbClr val="00E676"/>
                </a:solidFill>
              </a:defRPr>
            </a:pPr>
            <a:r>
              <a:t>&lt; 4.5 ms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</a:defRPr>
            </a:pPr>
            <a:r>
              <a:t>End-to-End Frame Latency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Includes camera, CLAHE, PnP &amp; Win32 dispatch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201168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/>
          <a:lstStyle/>
          <a:p>
            <a:pPr algn="ctr">
              <a:spcAft>
                <a:spcPts val="400"/>
              </a:spcAft>
              <a:defRPr sz="2800" b="1">
                <a:solidFill>
                  <a:srgbClr val="00E5FF"/>
                </a:solidFill>
              </a:defRPr>
            </a:pPr>
            <a:r>
              <a:t>&gt; 65%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</a:defRPr>
            </a:pPr>
            <a:r>
              <a:t>Stationary Jitter Reduction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Standard deviation reduced from 2.0px to &lt;0.6px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60320" cy="201168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/>
          <a:lstStyle/>
          <a:p>
            <a:pPr algn="ctr">
              <a:spcAft>
                <a:spcPts val="400"/>
              </a:spcAft>
              <a:defRPr sz="2800" b="1">
                <a:solidFill>
                  <a:srgbClr val="00E676"/>
                </a:solidFill>
              </a:defRPr>
            </a:pPr>
            <a:r>
              <a:t>100%</a:t>
            </a:r>
          </a:p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</a:defRPr>
            </a:pPr>
            <a:r>
              <a:t>Singularity Flipping Eliminated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Zero Gimbal Lock across full ±90° pitch/yaw/roll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5912" cy="22860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🖥️ Real-Time Cyber-Glass Dashboard Features Demonstrated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Dual Live Optical EAR Telemetry Bars with dynamic baseline markers &amp; threshold indicators.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Asymmetry Index percentage gauge demonstrating real-time differential wink confidence.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Circular animated countdown ring rendered directly around nose tip for visual hold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Side-by-side interactive tutorial panel with real-time reactive event logger.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SECTION 08 / ENGINEERING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8. Challenges Faced &amp; Engineering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FAB00"/>
                </a:solidFill>
              </a:defRPr>
            </a:pPr>
            <a:r>
              <a:t>1. Involuntary Eyelid Squinting during Winks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Challenge: Winking one eye naturally pulls down the opposite eyelid, breaking static thresholds.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Solution: Developed Relative Asymmetry Ratio (|L-R|/max(L,R) &gt; 28%) and dynamic baseline calibration.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FAB00"/>
                </a:solidFill>
              </a:defRPr>
            </a:pPr>
            <a:r>
              <a:t>2. Euler Angle Flipping &amp; Teleportation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Challenge: Looking down towards taskbar wraps Euler angles from +180° to -180°.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Solution: Implemented 6-DOF Perspective-n-Point with 1000mm forward normal ray projection.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FAB00"/>
                </a:solidFill>
              </a:defRPr>
            </a:pPr>
            <a:r>
              <a:t>3. Python 3.14 C-Binding MediaPipe Incompatibility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Challenge: Missing C++ DLLs in pre-release Python 3.14 wheels caused import crashes.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Solution: Extracted FaceMesh topology to ONNX Runtime + OpenCV YuNet C++ graph 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FFAB00"/>
                </a:solidFill>
              </a:defRPr>
            </a:pPr>
            <a:r>
              <a:t>4. Webcam Hardware Lock &amp; I/O Lag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Challenge: cap.read() blocked processing thread; background processes locked DirectShow device.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Solution: Created daemon-threaded frame grabber with atomic double buffering and clean lifecycle manager.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SECTION 09 / FUTURE WORK &amp; GANTT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9. Remaining Work &amp; Project Roadmap (40%)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📅 Phase 3: Advanced Features (20%)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Multi-Monitor &amp; DPI Scaling Support across multi-display setups.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Hybrid Iris Gaze Correction (fusing pupil displacement with head pose).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User Profile Manager (saving personalized calibration per user).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Customizable Gesture Keybindings (mapping winks to custom shortcuts).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E676"/>
                </a:solidFill>
              </a:defRPr>
            </a:pPr>
            <a:r>
              <a:t>📅 Phase 4: UI &amp; Packaging (20%)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Dedicated Modern Settings GUI (Tkinter / CustomTkinter dark theme).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System Tray Minimization with background hotkey listener.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Single-file standalone Windows executable (.exe) installer via PyInstaller.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Comprehensive User Manual and Accessibility Compliance testing.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E5FF"/>
                </a:solidFill>
              </a:defRPr>
            </a:pPr>
            <a:r>
              <a:t>⏱️ Projected Timeline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Week 1-2: Multi-Monitor &amp; Hybrid Iris Micro-Tracking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Week 3: Settings GUI &amp; Profile Persistence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Week 4: PyInstaller Packaging &amp; Performance Optimization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Week 5: Comprehensive Usability Testing &amp; Final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SECTION 10 / SUMMARY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10. Conclusion &amp; Open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41A2A"/>
          </a:solidFill>
          <a:ln w="12700">
            <a:solidFill>
              <a:srgbClr val="26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0E676"/>
                </a:solidFill>
              </a:defRPr>
            </a:pPr>
            <a:r>
              <a:t>🎉 Key Takeaways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Project I.R.I.S. successfully solves the 4 major systemic bottlenecks in webcam HCI literature.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Achieves ultra-fast 2.05ms inference on consumer CPUs with zero static jitter.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Introduces Relative Asymmetry Wink Recognition for effortless, natural gesture control.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60% milestone achieved with 100% passing automated unit tests and a live interactive dashboard.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Robust, modular codebase ready for Phase 3/4 expansion in `C:\I.R.I.S`.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39512" cy="4572000"/>
          </a:xfrm>
          <a:prstGeom prst="roundRect">
            <a:avLst/>
          </a:prstGeom>
          <a:solidFill>
            <a:srgbClr val="141A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731520"/>
          <a:lstStyle/>
          <a:p>
            <a:pPr algn="ctr">
              <a:spcAft>
                <a:spcPts val="1400"/>
              </a:spcAft>
              <a:defRPr sz="3200" b="1">
                <a:solidFill>
                  <a:srgbClr val="00E5FF"/>
                </a:solidFill>
              </a:defRPr>
            </a:pPr>
            <a:r>
              <a:t>THANK YOU!</a:t>
            </a:r>
          </a:p>
          <a:p>
            <a:pPr algn="ctr">
              <a:spcAft>
                <a:spcPts val="2400"/>
              </a:spcAft>
              <a:defRPr sz="2000" b="1">
                <a:solidFill>
                  <a:srgbClr val="F8FAFC"/>
                </a:solidFill>
              </a:defRPr>
            </a:pPr>
            <a:r>
              <a:t>Questions &amp; Live Demonstration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Project I.R.I.S. HCI Platform</a:t>
            </a:r>
            <a:br/>
            <a:r>
              <a:t>Ready for Interactive Testing &amp;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